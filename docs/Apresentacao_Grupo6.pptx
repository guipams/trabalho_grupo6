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9F605-C569-4593-83F2-AB530F518712}" v="1" dt="2026-10-26T11:40:21.865"/>
    <p1510:client id="{3D01699E-3334-1C2C-EECA-610C09C65C75}" v="118" dt="2026-10-26T18:11:36.169"/>
    <p1510:client id="{A40332EE-29EF-4DEA-8DF0-DD74C15961A3}" v="55" dt="2026-10-26T18:11:43.297"/>
    <p1510:client id="{A99A36A0-1515-4380-91EF-6399FE990CC9}" v="836" dt="2026-10-26T12:45:29.680"/>
    <p1510:client id="{E21F6D91-1555-40C0-8BAE-BE3B48EA64C0}" v="123" dt="2026-10-26T11:38:5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Ins="91440" bIns="45720" rtlCol="0" anchor="ctr"/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rPr lang="en-US">
                <a:solidFill>
                  <a:schemeClr val="bg1"/>
                </a:solidFill>
              </a:rPr>
              <a:t>Persistência</a:t>
            </a:r>
            <a:r>
              <a:rPr>
                <a:solidFill>
                  <a:schemeClr val="bg1"/>
                </a:solidFill>
              </a:rPr>
              <a:t> Local e </a:t>
            </a:r>
            <a:r>
              <a:rPr lang="en-US">
                <a:solidFill>
                  <a:schemeClr val="bg1"/>
                </a:solidFill>
              </a:rPr>
              <a:t>Funcionamento</a:t>
            </a:r>
            <a:r>
              <a:rPr>
                <a:solidFill>
                  <a:schemeClr val="bg1"/>
                </a:solidFill>
              </a:rPr>
              <a:t> Offline com Room</a:t>
            </a:r>
            <a:endParaRPr lang="pt-PT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3000"/>
              </a:spcBef>
              <a:defRPr sz="1800">
                <a:solidFill>
                  <a:srgbClr val="2563EB"/>
                </a:solidFill>
              </a:defRPr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Grupo 6: Guilherme Sousa (55010) e Henrique Marques (55129)</a:t>
            </a:r>
            <a:endParaRPr lang="en-US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Porquê Guardar Dados Localmente?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91440" bIns="457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>
                <a:solidFill>
                  <a:srgbClr val="FFC000"/>
                </a:solidFill>
              </a:rPr>
              <a:t>O </a:t>
            </a:r>
            <a:r>
              <a:rPr err="1">
                <a:solidFill>
                  <a:srgbClr val="FFC000"/>
                </a:solidFill>
              </a:rPr>
              <a:t>Problema</a:t>
            </a:r>
            <a:r>
              <a:rPr>
                <a:solidFill>
                  <a:srgbClr val="FFC000"/>
                </a:solidFill>
              </a:rPr>
              <a:t> </a:t>
            </a:r>
            <a:r>
              <a:rPr lang="pt-PT">
                <a:solidFill>
                  <a:srgbClr val="FFC000"/>
                </a:solidFill>
              </a:rPr>
              <a:t>e </a:t>
            </a:r>
            <a:r>
              <a:rPr>
                <a:solidFill>
                  <a:srgbClr val="FFC000"/>
                </a:solidFill>
              </a:rPr>
              <a:t>A </a:t>
            </a:r>
            <a:r>
              <a:rPr err="1">
                <a:solidFill>
                  <a:srgbClr val="FFC000"/>
                </a:solidFill>
              </a:rPr>
              <a:t>Solução</a:t>
            </a:r>
            <a:endParaRPr lang="pt-PT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Memória RAM é Volátil: Ao fechar a aplicação, os dados normais em Java apagam-se.</a:t>
            </a:r>
            <a:endParaRPr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Funcionamento Offline: O utilizador precisa de aceder aos seus dados mesmo sem Internet.</a:t>
            </a:r>
            <a:endParaRPr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Persistência Local: Guardar a informação no armazenamento interno do telemóvel.</a:t>
            </a:r>
            <a:endParaRPr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Formas de Armazenamento no Android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SharedPreferences / DataStore:</a:t>
            </a:r>
            <a:br/>
            <a:r>
              <a:t>Ideal para definições simples (ex: modo escuro).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Ficheiros Internos:</a:t>
            </a:r>
            <a:br/>
            <a:r>
              <a:t>Ideal para guardar imagens ou ficheiros de texto.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Base de Dados (SQLite e Room):</a:t>
            </a:r>
            <a:br/>
            <a:r>
              <a:t>Ideal para listas de informação estruturada (como a nossa lista de tarefas).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 que é a Biblioteca Room?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91440" bIns="45720"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rPr lang="en-US" sz="2000">
                <a:solidFill>
                  <a:srgbClr val="FFC000"/>
                </a:solidFill>
              </a:rPr>
              <a:t>Uma Camada de Abstração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>
                <a:solidFill>
                  <a:srgbClr val="FFC000"/>
                </a:solidFill>
              </a:rPr>
              <a:t>sobre o SQLite</a:t>
            </a:r>
          </a:p>
          <a:p>
            <a:pPr marL="285750" indent="-285750">
              <a:spcBef>
                <a:spcPts val="1600"/>
              </a:spcBef>
              <a:buFont typeface="Wingdings"/>
              <a:buChar char="Ø"/>
              <a:defRPr sz="2000" b="1">
                <a:solidFill>
                  <a:srgbClr val="2563EB"/>
                </a:solidFill>
              </a:defRPr>
            </a:pPr>
            <a:r>
              <a:rPr lang="pt-PT" sz="1500">
                <a:solidFill>
                  <a:srgbClr val="F8FAFC"/>
                </a:solidFill>
              </a:rPr>
              <a:t>Biblioteca</a:t>
            </a:r>
            <a:r>
              <a:rPr sz="1500">
                <a:solidFill>
                  <a:srgbClr val="F8FAFC"/>
                </a:solidFill>
              </a:rPr>
              <a:t> Oficial da Google: Faz parte do Android Jetpack.</a:t>
            </a:r>
            <a:endParaRPr lang="pt-PT" sz="1500">
              <a:solidFill>
                <a:srgbClr val="F8FAFC"/>
              </a:solidFill>
              <a:ea typeface="Calibri"/>
              <a:cs typeface="Calibri"/>
            </a:endParaRPr>
          </a:p>
          <a:p>
            <a:pPr marL="285750" indent="-285750">
              <a:spcBef>
                <a:spcPts val="1600"/>
              </a:spcBef>
              <a:buFont typeface="Wingdings"/>
              <a:buChar char="Ø"/>
              <a:defRPr sz="1500">
                <a:solidFill>
                  <a:srgbClr val="F8FAFC"/>
                </a:solidFill>
              </a:defRPr>
            </a:pPr>
            <a:r>
              <a:rPr lang="en-US" b="1"/>
              <a:t>Evita Código SQL Manual: Em vez de escrever queries complicadas à mão, usamos classes Java e anotações simples.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spcBef>
                <a:spcPts val="1600"/>
              </a:spcBef>
              <a:buFont typeface="Wingdings"/>
              <a:buChar char="Ø"/>
              <a:defRPr sz="1500">
                <a:solidFill>
                  <a:srgbClr val="F8FAFC"/>
                </a:solidFill>
              </a:defRPr>
            </a:pPr>
            <a:r>
              <a:rPr b="1"/>
              <a:t>Verificação </a:t>
            </a:r>
            <a:r>
              <a:rPr lang="pt-PT" b="1"/>
              <a:t>ao</a:t>
            </a:r>
            <a:r>
              <a:rPr b="1" dirty="0"/>
              <a:t> </a:t>
            </a:r>
            <a:r>
              <a:rPr lang="pt-PT" b="1"/>
              <a:t>Compilar</a:t>
            </a:r>
            <a:r>
              <a:rPr b="1"/>
              <a:t>: O Room </a:t>
            </a:r>
            <a:r>
              <a:rPr lang="pt-PT" b="1"/>
              <a:t>verifica</a:t>
            </a:r>
            <a:r>
              <a:rPr b="1"/>
              <a:t> se as </a:t>
            </a:r>
            <a:r>
              <a:rPr lang="pt-PT" b="1"/>
              <a:t>tuas</a:t>
            </a:r>
            <a:r>
              <a:rPr b="1"/>
              <a:t> queries SQL </a:t>
            </a:r>
            <a:r>
              <a:rPr lang="pt-PT" b="1"/>
              <a:t>estão</a:t>
            </a:r>
            <a:r>
              <a:rPr b="1" dirty="0"/>
              <a:t> </a:t>
            </a:r>
            <a:r>
              <a:rPr lang="pt-PT" b="1"/>
              <a:t>corretas</a:t>
            </a:r>
            <a:r>
              <a:rPr b="1"/>
              <a:t> logo </a:t>
            </a:r>
            <a:r>
              <a:rPr lang="pt-PT" b="1"/>
              <a:t>durante</a:t>
            </a:r>
            <a:r>
              <a:rPr b="1"/>
              <a:t> a </a:t>
            </a:r>
            <a:r>
              <a:rPr lang="pt-PT" b="1"/>
              <a:t>compilação</a:t>
            </a:r>
            <a:r>
              <a:rPr b="1"/>
              <a:t> do </a:t>
            </a:r>
            <a:r>
              <a:rPr lang="pt-PT" b="1"/>
              <a:t>projeto</a:t>
            </a:r>
            <a:r>
              <a:rPr b="1"/>
              <a:t>.</a:t>
            </a:r>
            <a:endParaRPr b="1">
              <a:ea typeface="Calibri"/>
              <a:cs typeface="Calibri"/>
            </a:endParaRPr>
          </a:p>
          <a:p>
            <a:pPr marL="285750" indent="-285750">
              <a:spcBef>
                <a:spcPts val="1600"/>
              </a:spcBef>
              <a:buFont typeface="Wingdings"/>
              <a:buChar char="Ø"/>
              <a:defRPr sz="1500">
                <a:solidFill>
                  <a:srgbClr val="F8FAFC"/>
                </a:solidFill>
              </a:defRPr>
            </a:pPr>
            <a:r>
              <a:rPr b="1"/>
              <a:t>Mapeamento </a:t>
            </a:r>
            <a:r>
              <a:rPr lang="pt-PT" b="1"/>
              <a:t>Automático</a:t>
            </a:r>
            <a:r>
              <a:rPr b="1"/>
              <a:t>: </a:t>
            </a:r>
            <a:r>
              <a:rPr lang="pt-PT" b="1"/>
              <a:t>Converte</a:t>
            </a:r>
            <a:r>
              <a:rPr b="1" dirty="0"/>
              <a:t> </a:t>
            </a:r>
            <a:r>
              <a:rPr lang="pt-PT" b="1"/>
              <a:t>automaticamente</a:t>
            </a:r>
            <a:r>
              <a:rPr b="1"/>
              <a:t> as </a:t>
            </a:r>
            <a:r>
              <a:rPr lang="pt-PT" b="1"/>
              <a:t>linhas</a:t>
            </a:r>
            <a:r>
              <a:rPr b="1"/>
              <a:t> da base de dados </a:t>
            </a:r>
            <a:r>
              <a:rPr lang="pt-PT" b="1"/>
              <a:t>em</a:t>
            </a:r>
            <a:r>
              <a:rPr b="1" dirty="0"/>
              <a:t> </a:t>
            </a:r>
            <a:r>
              <a:rPr lang="pt-PT" b="1"/>
              <a:t>objetos</a:t>
            </a:r>
            <a:r>
              <a:rPr b="1"/>
              <a:t> Java</a:t>
            </a:r>
            <a:r>
              <a:rPr lang="pt-PT" b="1"/>
              <a:t>.</a:t>
            </a:r>
            <a:endParaRPr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rPr err="1"/>
              <a:t>Os</a:t>
            </a:r>
            <a:r>
              <a:t> 3 </a:t>
            </a:r>
            <a:r>
              <a:rPr lang="pt-PT"/>
              <a:t>Componentes Principais </a:t>
            </a:r>
            <a:r>
              <a:t>do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>
                <a:solidFill>
                  <a:srgbClr val="00B050"/>
                </a:solidFill>
              </a:rPr>
              <a:t>1. </a:t>
            </a:r>
            <a:r>
              <a:rPr err="1">
                <a:solidFill>
                  <a:srgbClr val="00B050"/>
                </a:solidFill>
              </a:rPr>
              <a:t>Entidade</a:t>
            </a:r>
            <a:r>
              <a:rPr>
                <a:solidFill>
                  <a:srgbClr val="00B050"/>
                </a:solidFill>
              </a:rPr>
              <a:t> (@Entity)</a:t>
            </a:r>
            <a:endParaRPr lang="pt-PT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300" b="1">
                <a:solidFill>
                  <a:srgbClr val="94A3B8"/>
                </a:solidFill>
              </a:defRPr>
            </a:pPr>
            <a:r>
              <a:rPr sz="1300"/>
              <a:t>TaskEntity.java</a:t>
            </a:r>
            <a:endParaRPr sz="1300">
              <a:ea typeface="Calibri"/>
              <a:cs typeface="Calibri"/>
            </a:endParaRP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Representa a tabela no SQLite.</a:t>
            </a:r>
            <a:br>
              <a:rPr dirty="0"/>
            </a:br>
            <a:r>
              <a:t>Define as colunas (id, title, isCompleted).</a:t>
            </a:r>
            <a:endParaRPr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68807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>
                <a:solidFill>
                  <a:srgbClr val="00B050"/>
                </a:solidFill>
              </a:rPr>
              <a:t>3. Base de Dados (@Database)</a:t>
            </a:r>
            <a:endParaRPr lang="en-US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300" b="1">
                <a:solidFill>
                  <a:srgbClr val="94A3B8"/>
                </a:solidFill>
              </a:defRPr>
            </a:pPr>
            <a:r>
              <a:t>AppDatabase.java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Liga </a:t>
            </a:r>
            <a:r>
              <a:rPr lang="pt-PT" dirty="0"/>
              <a:t>a</a:t>
            </a:r>
            <a:r>
              <a:rPr dirty="0"/>
              <a:t> </a:t>
            </a:r>
            <a:r>
              <a:rPr lang="pt-PT"/>
              <a:t>Entidade</a:t>
            </a:r>
            <a:r>
              <a:rPr dirty="0"/>
              <a:t> ao DAO.</a:t>
            </a:r>
            <a:br>
              <a:rPr dirty="0"/>
            </a:br>
            <a:r>
              <a:rPr dirty="0"/>
              <a:t>Aplica o padrão Singleton para criar o ficheiro da BD.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CE9A7C47-3424-4432-6866-CBC3E69265EB}"/>
              </a:ext>
            </a:extLst>
          </p:cNvPr>
          <p:cNvSpPr/>
          <p:nvPr/>
        </p:nvSpPr>
        <p:spPr>
          <a:xfrm>
            <a:off x="4405867" y="165064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lang="pt-PT">
                <a:solidFill>
                  <a:srgbClr val="00B050"/>
                </a:solidFill>
              </a:rPr>
              <a:t>2. DAO (@Dao)</a:t>
            </a:r>
            <a:endParaRPr lang="pt-PT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300" b="1">
                <a:solidFill>
                  <a:srgbClr val="94A3B8"/>
                </a:solidFill>
              </a:defRPr>
            </a:pPr>
            <a:r>
              <a:rPr lang="pt-PT"/>
              <a:t>TaskDao</a:t>
            </a:r>
            <a:r>
              <a:t>.java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rPr lang="pt-PT"/>
              <a:t>Interface onde se declara as Operações do CRUD de leitura e escrita.</a:t>
            </a:r>
            <a:br>
              <a:rPr lang="pt-PT" dirty="0"/>
            </a:br>
            <a:r>
              <a:rPr lang="pt-PT"/>
              <a:t>CRUD (Create, Read, Update, Delete)</a:t>
            </a:r>
            <a:endParaRPr lang="pt-PT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 1</a:t>
            </a:r>
            <a:r>
              <a:rPr lang="pt-PT"/>
              <a:t> -</a:t>
            </a:r>
            <a:r>
              <a:t> A </a:t>
            </a:r>
            <a:r>
              <a:rPr err="1"/>
              <a:t>Entidade</a:t>
            </a:r>
            <a:r>
              <a:t> (TaskEntity.java)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err="1">
                <a:solidFill>
                  <a:srgbClr val="FFC000"/>
                </a:solidFill>
              </a:rPr>
              <a:t>Mapeamento</a:t>
            </a:r>
            <a:r>
              <a:rPr>
                <a:solidFill>
                  <a:srgbClr val="FFC000"/>
                </a:solidFill>
              </a:rPr>
              <a:t> da </a:t>
            </a:r>
            <a:r>
              <a:rPr err="1">
                <a:solidFill>
                  <a:srgbClr val="FFC000"/>
                </a:solidFill>
              </a:rPr>
              <a:t>Tabela</a:t>
            </a:r>
            <a:endParaRPr lang="pt-PT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@Entity(tableName = "tasks"):</a:t>
            </a:r>
            <a:br>
              <a:rPr/>
            </a:br>
            <a:r>
              <a:rPr err="1"/>
              <a:t>Declara</a:t>
            </a:r>
            <a:r>
              <a:t> a </a:t>
            </a:r>
            <a:r>
              <a:rPr err="1"/>
              <a:t>tabela</a:t>
            </a:r>
            <a:r>
              <a:t> no SQLite.</a:t>
            </a:r>
            <a:endParaRPr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@PrimaryKey(autoGenerate = true):</a:t>
            </a:r>
            <a:br>
              <a:rPr/>
            </a:br>
            <a:r>
              <a:t>Chave </a:t>
            </a:r>
            <a:r>
              <a:rPr err="1"/>
              <a:t>primária</a:t>
            </a:r>
            <a:r>
              <a:t> </a:t>
            </a:r>
            <a:r>
              <a:rPr err="1"/>
              <a:t>autoincrementada</a:t>
            </a:r>
            <a:r>
              <a:t>.</a:t>
            </a:r>
            <a:endParaRPr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@ColumnInfo:</a:t>
            </a:r>
            <a:br>
              <a:rPr/>
            </a:br>
            <a:r>
              <a:rPr err="1"/>
              <a:t>Personaliza</a:t>
            </a:r>
            <a:r>
              <a:t> </a:t>
            </a:r>
            <a:r>
              <a:rPr err="1"/>
              <a:t>os</a:t>
            </a:r>
            <a:r>
              <a:t> </a:t>
            </a:r>
            <a:r>
              <a:rPr err="1"/>
              <a:t>nomes</a:t>
            </a:r>
            <a:r>
              <a:t> das </a:t>
            </a:r>
            <a:r>
              <a:rPr err="1"/>
              <a:t>colunas</a:t>
            </a:r>
            <a:r>
              <a:t> (title, </a:t>
            </a:r>
            <a:r>
              <a:rPr err="1"/>
              <a:t>is_completed</a:t>
            </a:r>
            <a:r>
              <a:t>).</a:t>
            </a:r>
            <a:endParaRPr>
              <a:ea typeface="Calibri"/>
              <a:cs typeface="Calibri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D3E8970-C038-1BD3-04CF-FB385648868A}"/>
              </a:ext>
            </a:extLst>
          </p:cNvPr>
          <p:cNvSpPr/>
          <p:nvPr/>
        </p:nvSpPr>
        <p:spPr>
          <a:xfrm>
            <a:off x="5151059" y="1464152"/>
            <a:ext cx="6280251" cy="4754201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lang="en-US" sz="1000">
                <a:solidFill>
                  <a:schemeClr val="bg1"/>
                </a:solidFill>
              </a:rPr>
              <a:t>// </a:t>
            </a:r>
            <a:r>
              <a:rPr lang="en-US" sz="1200">
                <a:solidFill>
                  <a:srgbClr val="E2E8F0"/>
                </a:solidFill>
              </a:rPr>
              <a:t>TaskEntity.java</a:t>
            </a:r>
            <a:endParaRPr lang="pt-PT"/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lang="en-US" sz="1000">
                <a:solidFill>
                  <a:schemeClr val="bg1"/>
                </a:solidFill>
              </a:rPr>
              <a:t>@Entity(tableName = "tasks")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public class TaskEntity {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// chave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primaria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@PrimaryKey(autoGenerate = true)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private int id;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// coluna para o título da tarefa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@ColumnInfo(name = "title")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private String title;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// coluna para o estado da tarefa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@ColumnInfo(name = "is_completed")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private boolean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isCompleted;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// construtor para criar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uma nova tarefa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TaskEntity(String title, boolean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isCompleted) {</a:t>
            </a:r>
            <a:br>
              <a:rPr lang="en-US" sz="1000" dirty="0"/>
            </a:br>
            <a:r>
              <a:rPr lang="en-US" sz="1000" dirty="0">
                <a:solidFill>
                  <a:schemeClr val="bg1"/>
                </a:solidFill>
              </a:rPr>
              <a:t>        </a:t>
            </a:r>
            <a:r>
              <a:rPr lang="en-US" sz="1000">
                <a:solidFill>
                  <a:schemeClr val="bg1"/>
                </a:solidFill>
              </a:rPr>
              <a:t>this.title = title;</a:t>
            </a:r>
            <a:br>
              <a:rPr lang="en-US" sz="1000" dirty="0"/>
            </a:br>
            <a:r>
              <a:rPr lang="en-US" sz="1000" dirty="0">
                <a:solidFill>
                  <a:schemeClr val="bg1"/>
                </a:solidFill>
              </a:rPr>
              <a:t>        </a:t>
            </a:r>
            <a:r>
              <a:rPr lang="en-US" sz="1000">
                <a:solidFill>
                  <a:schemeClr val="bg1"/>
                </a:solidFill>
              </a:rPr>
              <a:t>this.isCompleted = isCompleted;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// getters e setters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int getId() { return id;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void setId(int id) { this.id = id;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String getTitle() { return title;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void setTitle(String title) { this.title = title;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boolean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isCompleted() { return isCompleted;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    public void setCompleted(boolean completed) { isCompleted = completed; }</a:t>
            </a:r>
            <a:br>
              <a:rPr lang="en-US" sz="1000" dirty="0"/>
            </a:br>
            <a:r>
              <a:rPr lang="en-US" sz="100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rPr err="1"/>
              <a:t>Comparação</a:t>
            </a:r>
            <a:r>
              <a:t> </a:t>
            </a:r>
            <a:r>
              <a:rPr lang="pt-PT"/>
              <a:t>da Entidade </a:t>
            </a:r>
            <a:r>
              <a:t>Java </a:t>
            </a:r>
            <a:r>
              <a:rPr lang="pt-PT"/>
              <a:t>e </a:t>
            </a:r>
            <a:r>
              <a:t>Kotlin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17311" y="1463040"/>
            <a:ext cx="5112689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rPr lang="en-US">
                <a:solidFill>
                  <a:schemeClr val="bg1"/>
                </a:solidFill>
              </a:rPr>
              <a:t>// Kotlin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@Entity(tableName = "tasks")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data class </a:t>
            </a:r>
            <a:r>
              <a:rPr lang="en-US" err="1">
                <a:solidFill>
                  <a:schemeClr val="bg1"/>
                </a:solidFill>
              </a:rPr>
              <a:t>TaskEntity</a:t>
            </a:r>
            <a:r>
              <a:rPr lang="en-US">
                <a:solidFill>
                  <a:schemeClr val="bg1"/>
                </a:solidFill>
              </a:rPr>
              <a:t>(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@PrimaryKey(autoGenerate = true)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</a:t>
            </a:r>
            <a:r>
              <a:rPr lang="en-US" err="1">
                <a:solidFill>
                  <a:schemeClr val="bg1"/>
                </a:solidFill>
              </a:rPr>
              <a:t>val</a:t>
            </a:r>
            <a:r>
              <a:rPr lang="en-US">
                <a:solidFill>
                  <a:schemeClr val="bg1"/>
                </a:solidFill>
              </a:rPr>
              <a:t> id: Int = 0,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@ColumnInfo(name = "title")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</a:t>
            </a:r>
            <a:r>
              <a:rPr lang="en-US" err="1">
                <a:solidFill>
                  <a:schemeClr val="bg1"/>
                </a:solidFill>
              </a:rPr>
              <a:t>val</a:t>
            </a:r>
            <a:r>
              <a:rPr lang="en-US">
                <a:solidFill>
                  <a:schemeClr val="bg1"/>
                </a:solidFill>
              </a:rPr>
              <a:t> title: String,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@ColumnInfo(name = "</a:t>
            </a:r>
            <a:r>
              <a:rPr lang="en-US" err="1">
                <a:solidFill>
                  <a:schemeClr val="bg1"/>
                </a:solidFill>
              </a:rPr>
              <a:t>is_completed</a:t>
            </a:r>
            <a:r>
              <a:rPr lang="en-US">
                <a:solidFill>
                  <a:schemeClr val="bg1"/>
                </a:solidFill>
              </a:rPr>
              <a:t>")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   var </a:t>
            </a:r>
            <a:r>
              <a:rPr lang="en-US" err="1">
                <a:solidFill>
                  <a:schemeClr val="bg1"/>
                </a:solidFill>
              </a:rPr>
              <a:t>isCompleted</a:t>
            </a:r>
            <a:r>
              <a:rPr lang="en-US">
                <a:solidFill>
                  <a:schemeClr val="bg1"/>
                </a:solidFill>
              </a:rPr>
              <a:t>: Boolean = false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)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// Em Kotlin, </a:t>
            </a:r>
            <a:r>
              <a:rPr lang="en-US" err="1">
                <a:solidFill>
                  <a:schemeClr val="bg1"/>
                </a:solidFill>
              </a:rPr>
              <a:t>os</a:t>
            </a:r>
            <a:r>
              <a:rPr lang="en-US">
                <a:solidFill>
                  <a:schemeClr val="bg1"/>
                </a:solidFill>
              </a:rPr>
              <a:t> Getters, Setters e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// </a:t>
            </a:r>
            <a:r>
              <a:rPr lang="en-US" err="1">
                <a:solidFill>
                  <a:schemeClr val="bg1"/>
                </a:solidFill>
              </a:rPr>
              <a:t>Construtor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são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gerados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automaticamente</a:t>
            </a:r>
            <a:r>
              <a:rPr lang="en-US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16CBFAA-9EA1-6A33-6BB5-B1010913765B}"/>
              </a:ext>
            </a:extLst>
          </p:cNvPr>
          <p:cNvSpPr/>
          <p:nvPr/>
        </p:nvSpPr>
        <p:spPr>
          <a:xfrm>
            <a:off x="736940" y="1464761"/>
            <a:ext cx="5377574" cy="476592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lang="en-US" sz="1000">
                <a:solidFill>
                  <a:schemeClr val="bg1"/>
                </a:solidFill>
              </a:rPr>
              <a:t>// </a:t>
            </a:r>
            <a:r>
              <a:rPr lang="pt-PT" sz="1100">
                <a:solidFill>
                  <a:srgbClr val="E2E8F0"/>
                </a:solidFill>
              </a:rPr>
              <a:t>Java</a:t>
            </a:r>
            <a:endParaRPr lang="pt-PT"/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lang="en-US" sz="1000">
                <a:solidFill>
                  <a:schemeClr val="bg1"/>
                </a:solidFill>
              </a:rPr>
              <a:t>@Entity(tableName = "tasks")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public class </a:t>
            </a:r>
            <a:r>
              <a:rPr lang="en-US" sz="1000" err="1">
                <a:solidFill>
                  <a:schemeClr val="bg1"/>
                </a:solidFill>
              </a:rPr>
              <a:t>TaskEntity</a:t>
            </a:r>
            <a:r>
              <a:rPr lang="en-US" sz="1000">
                <a:solidFill>
                  <a:schemeClr val="bg1"/>
                </a:solidFill>
              </a:rPr>
              <a:t> {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// </a:t>
            </a:r>
            <a:r>
              <a:rPr lang="en-US" sz="1000" err="1">
                <a:solidFill>
                  <a:schemeClr val="bg1"/>
                </a:solidFill>
              </a:rPr>
              <a:t>chave</a:t>
            </a:r>
            <a:r>
              <a:rPr lang="en-US" sz="1000">
                <a:solidFill>
                  <a:schemeClr val="bg1"/>
                </a:solidFill>
              </a:rPr>
              <a:t> </a:t>
            </a:r>
            <a:r>
              <a:rPr lang="en-US" sz="1000" err="1">
                <a:solidFill>
                  <a:schemeClr val="bg1"/>
                </a:solidFill>
              </a:rPr>
              <a:t>primaria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@PrimaryKey(autoGenerate = true)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private int id;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// </a:t>
            </a:r>
            <a:r>
              <a:rPr lang="en-US" sz="1000" err="1">
                <a:solidFill>
                  <a:schemeClr val="bg1"/>
                </a:solidFill>
              </a:rPr>
              <a:t>coluna</a:t>
            </a:r>
            <a:r>
              <a:rPr lang="en-US" sz="1000">
                <a:solidFill>
                  <a:schemeClr val="bg1"/>
                </a:solidFill>
              </a:rPr>
              <a:t> para o </a:t>
            </a:r>
            <a:r>
              <a:rPr lang="en-US" sz="1000" err="1">
                <a:solidFill>
                  <a:schemeClr val="bg1"/>
                </a:solidFill>
              </a:rPr>
              <a:t>título</a:t>
            </a:r>
            <a:r>
              <a:rPr lang="en-US" sz="1000">
                <a:solidFill>
                  <a:schemeClr val="bg1"/>
                </a:solidFill>
              </a:rPr>
              <a:t> da </a:t>
            </a:r>
            <a:r>
              <a:rPr lang="en-US" sz="1000" err="1">
                <a:solidFill>
                  <a:schemeClr val="bg1"/>
                </a:solidFill>
              </a:rPr>
              <a:t>tarefa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@ColumnInfo(name = "title")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private String title;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// </a:t>
            </a:r>
            <a:r>
              <a:rPr lang="en-US" sz="1000" err="1">
                <a:solidFill>
                  <a:schemeClr val="bg1"/>
                </a:solidFill>
              </a:rPr>
              <a:t>coluna</a:t>
            </a:r>
            <a:r>
              <a:rPr lang="en-US" sz="1000">
                <a:solidFill>
                  <a:schemeClr val="bg1"/>
                </a:solidFill>
              </a:rPr>
              <a:t> para o </a:t>
            </a:r>
            <a:r>
              <a:rPr lang="en-US" sz="1000" err="1">
                <a:solidFill>
                  <a:schemeClr val="bg1"/>
                </a:solidFill>
              </a:rPr>
              <a:t>estado</a:t>
            </a:r>
            <a:r>
              <a:rPr lang="en-US" sz="1000">
                <a:solidFill>
                  <a:schemeClr val="bg1"/>
                </a:solidFill>
              </a:rPr>
              <a:t> da </a:t>
            </a:r>
            <a:r>
              <a:rPr lang="en-US" sz="1000" err="1">
                <a:solidFill>
                  <a:schemeClr val="bg1"/>
                </a:solidFill>
              </a:rPr>
              <a:t>tarefa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@ColumnInfo(name = "</a:t>
            </a:r>
            <a:r>
              <a:rPr lang="en-US" sz="1000" err="1">
                <a:solidFill>
                  <a:schemeClr val="bg1"/>
                </a:solidFill>
              </a:rPr>
              <a:t>is_completed</a:t>
            </a:r>
            <a:r>
              <a:rPr lang="en-US" sz="1000">
                <a:solidFill>
                  <a:schemeClr val="bg1"/>
                </a:solidFill>
              </a:rPr>
              <a:t>")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private </a:t>
            </a:r>
            <a:r>
              <a:rPr lang="en-US" sz="1000" err="1">
                <a:solidFill>
                  <a:schemeClr val="bg1"/>
                </a:solidFill>
              </a:rPr>
              <a:t>boolean</a:t>
            </a:r>
            <a:r>
              <a:rPr lang="en-US" sz="1000">
                <a:solidFill>
                  <a:schemeClr val="bg1"/>
                </a:solidFill>
              </a:rPr>
              <a:t>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;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// </a:t>
            </a:r>
            <a:r>
              <a:rPr lang="en-US" sz="1000" err="1">
                <a:solidFill>
                  <a:schemeClr val="bg1"/>
                </a:solidFill>
              </a:rPr>
              <a:t>construtor</a:t>
            </a:r>
            <a:r>
              <a:rPr lang="en-US" sz="1000">
                <a:solidFill>
                  <a:schemeClr val="bg1"/>
                </a:solidFill>
              </a:rPr>
              <a:t> para </a:t>
            </a:r>
            <a:r>
              <a:rPr lang="en-US" sz="1000" err="1">
                <a:solidFill>
                  <a:schemeClr val="bg1"/>
                </a:solidFill>
              </a:rPr>
              <a:t>criar</a:t>
            </a:r>
            <a:r>
              <a:rPr lang="en-US" sz="1000">
                <a:solidFill>
                  <a:schemeClr val="bg1"/>
                </a:solidFill>
              </a:rPr>
              <a:t> </a:t>
            </a:r>
            <a:r>
              <a:rPr lang="en-US" sz="1000" err="1">
                <a:solidFill>
                  <a:schemeClr val="bg1"/>
                </a:solidFill>
              </a:rPr>
              <a:t>uma</a:t>
            </a:r>
            <a:r>
              <a:rPr lang="en-US" sz="1000">
                <a:solidFill>
                  <a:schemeClr val="bg1"/>
                </a:solidFill>
              </a:rPr>
              <a:t> nova </a:t>
            </a:r>
            <a:r>
              <a:rPr lang="en-US" sz="1000" err="1">
                <a:solidFill>
                  <a:schemeClr val="bg1"/>
                </a:solidFill>
              </a:rPr>
              <a:t>tarefa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</a:t>
            </a:r>
            <a:r>
              <a:rPr lang="en-US" sz="1000" err="1">
                <a:solidFill>
                  <a:schemeClr val="bg1"/>
                </a:solidFill>
              </a:rPr>
              <a:t>TaskEntity</a:t>
            </a:r>
            <a:r>
              <a:rPr lang="en-US" sz="1000">
                <a:solidFill>
                  <a:schemeClr val="bg1"/>
                </a:solidFill>
              </a:rPr>
              <a:t>(String title, </a:t>
            </a:r>
            <a:r>
              <a:rPr lang="en-US" sz="1000" err="1">
                <a:solidFill>
                  <a:schemeClr val="bg1"/>
                </a:solidFill>
              </a:rPr>
              <a:t>boolean</a:t>
            </a:r>
            <a:r>
              <a:rPr lang="en-US" sz="1000">
                <a:solidFill>
                  <a:schemeClr val="bg1"/>
                </a:solidFill>
              </a:rPr>
              <a:t>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) {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     </a:t>
            </a:r>
            <a:r>
              <a:rPr lang="en-US" sz="1000" err="1">
                <a:solidFill>
                  <a:schemeClr val="bg1"/>
                </a:solidFill>
              </a:rPr>
              <a:t>this.title</a:t>
            </a:r>
            <a:r>
              <a:rPr lang="en-US" sz="1000">
                <a:solidFill>
                  <a:schemeClr val="bg1"/>
                </a:solidFill>
              </a:rPr>
              <a:t> = title;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     </a:t>
            </a:r>
            <a:r>
              <a:rPr lang="en-US" sz="1000" err="1">
                <a:solidFill>
                  <a:schemeClr val="bg1"/>
                </a:solidFill>
              </a:rPr>
              <a:t>this.isCompleted</a:t>
            </a:r>
            <a:r>
              <a:rPr lang="en-US" sz="1000">
                <a:solidFill>
                  <a:schemeClr val="bg1"/>
                </a:solidFill>
              </a:rPr>
              <a:t> =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;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// getters e setters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int </a:t>
            </a:r>
            <a:r>
              <a:rPr lang="en-US" sz="1000" err="1">
                <a:solidFill>
                  <a:schemeClr val="bg1"/>
                </a:solidFill>
              </a:rPr>
              <a:t>getId</a:t>
            </a:r>
            <a:r>
              <a:rPr lang="en-US" sz="1000">
                <a:solidFill>
                  <a:schemeClr val="bg1"/>
                </a:solidFill>
              </a:rPr>
              <a:t>() { return id;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void </a:t>
            </a:r>
            <a:r>
              <a:rPr lang="en-US" sz="1000" err="1">
                <a:solidFill>
                  <a:schemeClr val="bg1"/>
                </a:solidFill>
              </a:rPr>
              <a:t>setId</a:t>
            </a:r>
            <a:r>
              <a:rPr lang="en-US" sz="1000">
                <a:solidFill>
                  <a:schemeClr val="bg1"/>
                </a:solidFill>
              </a:rPr>
              <a:t>(int id) { this.id = id;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String </a:t>
            </a:r>
            <a:r>
              <a:rPr lang="en-US" sz="1000" err="1">
                <a:solidFill>
                  <a:schemeClr val="bg1"/>
                </a:solidFill>
              </a:rPr>
              <a:t>getTitle</a:t>
            </a:r>
            <a:r>
              <a:rPr lang="en-US" sz="1000">
                <a:solidFill>
                  <a:schemeClr val="bg1"/>
                </a:solidFill>
              </a:rPr>
              <a:t>() { return title;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void </a:t>
            </a:r>
            <a:r>
              <a:rPr lang="en-US" sz="1000" err="1">
                <a:solidFill>
                  <a:schemeClr val="bg1"/>
                </a:solidFill>
              </a:rPr>
              <a:t>setTitle</a:t>
            </a:r>
            <a:r>
              <a:rPr lang="en-US" sz="1000">
                <a:solidFill>
                  <a:schemeClr val="bg1"/>
                </a:solidFill>
              </a:rPr>
              <a:t>(String title) { </a:t>
            </a:r>
            <a:r>
              <a:rPr lang="en-US" sz="1000" err="1">
                <a:solidFill>
                  <a:schemeClr val="bg1"/>
                </a:solidFill>
              </a:rPr>
              <a:t>this.title</a:t>
            </a:r>
            <a:r>
              <a:rPr lang="en-US" sz="1000">
                <a:solidFill>
                  <a:schemeClr val="bg1"/>
                </a:solidFill>
              </a:rPr>
              <a:t> = title;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</a:t>
            </a:r>
            <a:r>
              <a:rPr lang="en-US" sz="1000" err="1">
                <a:solidFill>
                  <a:schemeClr val="bg1"/>
                </a:solidFill>
              </a:rPr>
              <a:t>boolean</a:t>
            </a:r>
            <a:r>
              <a:rPr lang="en-US" sz="1000">
                <a:solidFill>
                  <a:schemeClr val="bg1"/>
                </a:solidFill>
              </a:rPr>
              <a:t>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() { return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    public void </a:t>
            </a:r>
            <a:r>
              <a:rPr lang="en-US" sz="1000" err="1">
                <a:solidFill>
                  <a:schemeClr val="bg1"/>
                </a:solidFill>
              </a:rPr>
              <a:t>setCompleted</a:t>
            </a:r>
            <a:r>
              <a:rPr lang="en-US" sz="1000">
                <a:solidFill>
                  <a:schemeClr val="bg1"/>
                </a:solidFill>
              </a:rPr>
              <a:t>(</a:t>
            </a:r>
            <a:r>
              <a:rPr lang="en-US" sz="1000" err="1">
                <a:solidFill>
                  <a:schemeClr val="bg1"/>
                </a:solidFill>
              </a:rPr>
              <a:t>boolean</a:t>
            </a:r>
            <a:r>
              <a:rPr lang="en-US" sz="1000">
                <a:solidFill>
                  <a:schemeClr val="bg1"/>
                </a:solidFill>
              </a:rPr>
              <a:t> completed) { </a:t>
            </a:r>
            <a:r>
              <a:rPr lang="en-US" sz="1000" err="1">
                <a:solidFill>
                  <a:schemeClr val="bg1"/>
                </a:solidFill>
              </a:rPr>
              <a:t>isCompleted</a:t>
            </a:r>
            <a:r>
              <a:rPr lang="en-US" sz="1000">
                <a:solidFill>
                  <a:schemeClr val="bg1"/>
                </a:solidFill>
              </a:rPr>
              <a:t> = completed; }</a:t>
            </a:r>
            <a:br>
              <a:rPr lang="en-US" sz="1000"/>
            </a:br>
            <a:r>
              <a:rPr lang="en-US" sz="100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 2</a:t>
            </a:r>
            <a:r>
              <a:rPr lang="pt-PT"/>
              <a:t> -</a:t>
            </a:r>
            <a:r>
              <a:t> O DAO e </a:t>
            </a:r>
            <a:r>
              <a:rPr err="1"/>
              <a:t>Operações</a:t>
            </a:r>
            <a:r>
              <a:t> CRUD (TaskDao.java)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O Motor do CRUD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CREATE (@Insert):</a:t>
            </a:r>
            <a:br/>
            <a:r>
              <a:t>Insere a tarefa na base de dados.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READ (@Query):</a:t>
            </a:r>
            <a:br/>
            <a:r>
              <a:t>Seleciona todas as tarefas ordenadas por ID.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UPDATE (@Update):</a:t>
            </a:r>
            <a:br/>
            <a:r>
              <a:t>Atualiza a tarefa (ex: marca CheckBox).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DELETE (@Delete / @Query):</a:t>
            </a:r>
            <a:br/>
            <a:r>
              <a:t>Elimina tarefas individuais ou todas.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D785090F-E3E2-7987-7652-D9A56D5826B8}"/>
              </a:ext>
            </a:extLst>
          </p:cNvPr>
          <p:cNvSpPr/>
          <p:nvPr/>
        </p:nvSpPr>
        <p:spPr>
          <a:xfrm>
            <a:off x="5044211" y="1467150"/>
            <a:ext cx="6461760" cy="4743157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rPr lang="pt-PT">
                <a:solidFill>
                  <a:schemeClr val="bg1"/>
                </a:solidFill>
              </a:rPr>
              <a:t>// </a:t>
            </a:r>
            <a:r>
              <a:rPr lang="pt-PT">
                <a:solidFill>
                  <a:srgbClr val="E2E8F0"/>
                </a:solidFill>
              </a:rPr>
              <a:t>TaskDao.java</a:t>
            </a:r>
            <a:endParaRPr lang="pt-PT"/>
          </a:p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rPr lang="pt-PT">
                <a:solidFill>
                  <a:schemeClr val="bg1"/>
                </a:solidFill>
              </a:rPr>
              <a:t>@Dao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public interface TaskDao {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CREATE insere uma nova tarefa e devolver o ID gerado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@Insert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long insert(TaskEntity task);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READ seleciona todas as tarefas ordenadas por ID decrescente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@Query("SELECT * FROM tasks ORDER BY id DESC")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List&lt;TaskEntity&gt; getAllTasks();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READ seleciona uma tarefa pelo ID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@Query("SELECT * FROM tasks WHERE id = :taskId LIMIT 1")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TaskEntity getTaskById(int taskId);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UPDATE atualiza os dados de uma tarefa existente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@Update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void update(TaskEntity task);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DELETE elimina uma tarefa específica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@Delete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void delete(TaskEntity task);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// DELETE elimina todas as tarefas da tabela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@Query("DELETE FROM tasks")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    void deleteAll();</a:t>
            </a:r>
            <a:br>
              <a:rPr lang="pt-PT">
                <a:solidFill>
                  <a:schemeClr val="bg1"/>
                </a:solidFill>
              </a:rPr>
            </a:br>
            <a:r>
              <a:rPr lang="pt-PT">
                <a:solidFill>
                  <a:schemeClr val="bg1"/>
                </a:solidFill>
              </a:rPr>
              <a:t>}</a:t>
            </a:r>
          </a:p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 3</a:t>
            </a:r>
            <a:r>
              <a:rPr lang="pt-PT"/>
              <a:t> -</a:t>
            </a:r>
            <a:r>
              <a:t> Base de Dados e Singleton (AppDatabase.java)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lang="en-US" err="1">
                <a:solidFill>
                  <a:srgbClr val="00B050"/>
                </a:solidFill>
              </a:rPr>
              <a:t>Gestão</a:t>
            </a:r>
            <a:r>
              <a:rPr lang="en-US">
                <a:solidFill>
                  <a:srgbClr val="00B050"/>
                </a:solidFill>
              </a:rPr>
              <a:t> da Base de Dados</a:t>
            </a:r>
            <a:endParaRPr lang="en-US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@Database:</a:t>
            </a:r>
            <a:br>
              <a:rPr/>
            </a:br>
            <a:r>
              <a:rPr err="1"/>
              <a:t>Regista</a:t>
            </a:r>
            <a:r>
              <a:t> a </a:t>
            </a:r>
            <a:r>
              <a:rPr err="1"/>
              <a:t>TaskEntity</a:t>
            </a:r>
            <a:r>
              <a:t> e </a:t>
            </a:r>
            <a:r>
              <a:rPr err="1"/>
              <a:t>expõe</a:t>
            </a:r>
            <a:r>
              <a:t> o </a:t>
            </a:r>
            <a:r>
              <a:rPr err="1"/>
              <a:t>TaskDao</a:t>
            </a:r>
            <a:r>
              <a:t>.</a:t>
            </a:r>
            <a:endParaRPr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</a:t>
            </a:r>
            <a:r>
              <a:rPr err="1"/>
              <a:t>Padrão</a:t>
            </a:r>
            <a:r>
              <a:t> Singleton:</a:t>
            </a:r>
            <a:br>
              <a:rPr/>
            </a:br>
            <a:r>
              <a:t>O </a:t>
            </a:r>
            <a:r>
              <a:rPr err="1"/>
              <a:t>método</a:t>
            </a:r>
            <a:r>
              <a:t> </a:t>
            </a:r>
            <a:r>
              <a:rPr err="1"/>
              <a:t>getInstance</a:t>
            </a:r>
            <a:r>
              <a:t>() </a:t>
            </a:r>
            <a:r>
              <a:rPr err="1"/>
              <a:t>garante</a:t>
            </a:r>
            <a:r>
              <a:t> </a:t>
            </a:r>
            <a:r>
              <a:rPr err="1"/>
              <a:t>que</a:t>
            </a:r>
            <a:r>
              <a:t> </a:t>
            </a:r>
            <a:r>
              <a:rPr err="1"/>
              <a:t>apenas</a:t>
            </a:r>
            <a:r>
              <a:t> UMA </a:t>
            </a:r>
            <a:r>
              <a:rPr err="1"/>
              <a:t>instância</a:t>
            </a:r>
            <a:r>
              <a:t> da BD </a:t>
            </a:r>
            <a:r>
              <a:rPr err="1"/>
              <a:t>está</a:t>
            </a:r>
            <a:r>
              <a:t> </a:t>
            </a:r>
            <a:r>
              <a:rPr err="1"/>
              <a:t>aberta</a:t>
            </a:r>
            <a:r>
              <a:t> </a:t>
            </a:r>
            <a:r>
              <a:rPr err="1"/>
              <a:t>na</a:t>
            </a:r>
            <a:r>
              <a:t> app </a:t>
            </a:r>
            <a:r>
              <a:rPr err="1"/>
              <a:t>inteira</a:t>
            </a:r>
            <a:r>
              <a:t>.</a:t>
            </a:r>
            <a:endParaRPr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</a:t>
            </a:r>
            <a:r>
              <a:rPr err="1"/>
              <a:t>Prevenção</a:t>
            </a:r>
            <a:r>
              <a:t> de Erros:</a:t>
            </a:r>
            <a:br>
              <a:rPr/>
            </a:br>
            <a:r>
              <a:t>Evita o </a:t>
            </a:r>
            <a:r>
              <a:rPr err="1"/>
              <a:t>desperdício</a:t>
            </a:r>
            <a:r>
              <a:t> de </a:t>
            </a:r>
            <a:r>
              <a:rPr err="1"/>
              <a:t>memória</a:t>
            </a:r>
            <a:r>
              <a:t> e </a:t>
            </a:r>
            <a:r>
              <a:rPr err="1"/>
              <a:t>conflitos</a:t>
            </a:r>
            <a:r>
              <a:t> de </a:t>
            </a:r>
            <a:r>
              <a:rPr err="1"/>
              <a:t>escrita</a:t>
            </a:r>
            <a:r>
              <a:t> </a:t>
            </a:r>
            <a:r>
              <a:rPr err="1"/>
              <a:t>simultânea</a:t>
            </a:r>
            <a: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57095BF5-E659-5D39-BD92-328D17BB25CB}"/>
              </a:ext>
            </a:extLst>
          </p:cNvPr>
          <p:cNvSpPr/>
          <p:nvPr/>
        </p:nvSpPr>
        <p:spPr>
          <a:xfrm>
            <a:off x="5071920" y="1463040"/>
            <a:ext cx="63093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lang="pt-PT" sz="1000">
                <a:solidFill>
                  <a:schemeClr val="bg1"/>
                </a:solidFill>
              </a:rPr>
              <a:t>// AppDatabase.java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@Database(entities = {TaskEntity.class}, version = 1, exportSchema = false)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public abstract class AppDatabase extends RoomDatabase {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// metodo abstrato para obter a interface DAO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public abstract TaskDao taskDao();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// instancia unica da base de dados (Singleton)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private static volatile AppDatabase </a:t>
            </a:r>
            <a:r>
              <a:rPr lang="pt-PT" sz="1000" i="1">
                <a:solidFill>
                  <a:schemeClr val="bg1"/>
                </a:solidFill>
              </a:rPr>
              <a:t>INSTANCE</a:t>
            </a:r>
            <a:r>
              <a:rPr lang="pt-PT" sz="1000">
                <a:solidFill>
                  <a:schemeClr val="bg1"/>
                </a:solidFill>
              </a:rPr>
              <a:t>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// executor para executar tarefas em background em threads secundarias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private static final int </a:t>
            </a:r>
            <a:r>
              <a:rPr lang="pt-PT" sz="1000" i="1">
                <a:solidFill>
                  <a:schemeClr val="bg1"/>
                </a:solidFill>
              </a:rPr>
              <a:t>NUMBER_OF_THREADS </a:t>
            </a:r>
            <a:r>
              <a:rPr lang="pt-PT" sz="1000">
                <a:solidFill>
                  <a:schemeClr val="bg1"/>
                </a:solidFill>
              </a:rPr>
              <a:t>= 4;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public static final ExecutorService </a:t>
            </a:r>
            <a:r>
              <a:rPr lang="pt-PT" sz="1000" i="1">
                <a:solidFill>
                  <a:schemeClr val="bg1"/>
                </a:solidFill>
              </a:rPr>
              <a:t>databaseWriteExecutor </a:t>
            </a:r>
            <a:r>
              <a:rPr lang="pt-PT" sz="1000">
                <a:solidFill>
                  <a:schemeClr val="bg1"/>
                </a:solidFill>
              </a:rPr>
              <a:t>=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Executors.</a:t>
            </a:r>
            <a:r>
              <a:rPr lang="pt-PT" sz="1000" i="1">
                <a:solidFill>
                  <a:schemeClr val="bg1"/>
                </a:solidFill>
              </a:rPr>
              <a:t>newFixedThreadPool</a:t>
            </a:r>
            <a:r>
              <a:rPr lang="pt-PT" sz="1000">
                <a:solidFill>
                  <a:schemeClr val="bg1"/>
                </a:solidFill>
              </a:rPr>
              <a:t>(</a:t>
            </a:r>
            <a:r>
              <a:rPr lang="pt-PT" sz="1000" i="1">
                <a:solidFill>
                  <a:schemeClr val="bg1"/>
                </a:solidFill>
              </a:rPr>
              <a:t>NUMBER_OF_THREADS</a:t>
            </a:r>
            <a:r>
              <a:rPr lang="pt-PT" sz="1000">
                <a:solidFill>
                  <a:schemeClr val="bg1"/>
                </a:solidFill>
              </a:rPr>
              <a:t>);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// metodo estatico para obter a instancia da base de dados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public static AppDatabase getInstance(final Context context) {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if (</a:t>
            </a:r>
            <a:r>
              <a:rPr lang="pt-PT" sz="1000" i="1">
                <a:solidFill>
                  <a:schemeClr val="bg1"/>
                </a:solidFill>
              </a:rPr>
              <a:t>INSTANCE </a:t>
            </a:r>
            <a:r>
              <a:rPr lang="pt-PT" sz="1000">
                <a:solidFill>
                  <a:schemeClr val="bg1"/>
                </a:solidFill>
              </a:rPr>
              <a:t>== null) {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synchronized (AppDatabase.class) {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    if (</a:t>
            </a:r>
            <a:r>
              <a:rPr lang="pt-PT" sz="1000" i="1">
                <a:solidFill>
                  <a:schemeClr val="bg1"/>
                </a:solidFill>
              </a:rPr>
              <a:t>INSTANCE </a:t>
            </a:r>
            <a:r>
              <a:rPr lang="pt-PT" sz="1000">
                <a:solidFill>
                  <a:schemeClr val="bg1"/>
                </a:solidFill>
              </a:rPr>
              <a:t>== null) {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        </a:t>
            </a:r>
            <a:r>
              <a:rPr lang="pt-PT" sz="1000" i="1">
                <a:solidFill>
                  <a:schemeClr val="bg1"/>
                </a:solidFill>
              </a:rPr>
              <a:t>INSTANCE </a:t>
            </a:r>
            <a:r>
              <a:rPr lang="pt-PT" sz="1000">
                <a:solidFill>
                  <a:schemeClr val="bg1"/>
                </a:solidFill>
              </a:rPr>
              <a:t>= Room.</a:t>
            </a:r>
            <a:r>
              <a:rPr lang="pt-PT" sz="1000" i="1">
                <a:solidFill>
                  <a:schemeClr val="bg1"/>
                </a:solidFill>
              </a:rPr>
              <a:t>databaseBuilder</a:t>
            </a:r>
            <a:r>
              <a:rPr lang="pt-PT" sz="1000">
                <a:solidFill>
                  <a:schemeClr val="bg1"/>
                </a:solidFill>
              </a:rPr>
              <a:t>(context.getApplicationContext(),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                        AppDatabase.class, "task_database")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                .build();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    }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    }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}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    return </a:t>
            </a:r>
            <a:r>
              <a:rPr lang="pt-PT" sz="1000" i="1">
                <a:solidFill>
                  <a:schemeClr val="bg1"/>
                </a:solidFill>
              </a:rPr>
              <a:t>INSTANCE</a:t>
            </a:r>
            <a:r>
              <a:rPr lang="pt-PT" sz="1000">
                <a:solidFill>
                  <a:schemeClr val="bg1"/>
                </a:solidFill>
              </a:rPr>
              <a:t>;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    }</a:t>
            </a:r>
            <a:br>
              <a:rPr lang="pt-PT" sz="1000"/>
            </a:br>
            <a:r>
              <a:rPr lang="pt-PT" sz="1000">
                <a:solidFill>
                  <a:schemeClr val="bg1"/>
                </a:solidFill>
              </a:rPr>
              <a:t>}</a:t>
            </a:r>
          </a:p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Execução Assíncrona e UI Thread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21348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O Perigo da Main Thread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Regra de Ouro: Proibido aceder ao Room na Main Thread (UI Thread).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Risco: O ecrã bloqueia e gera o erro ANR (Application Not Responding).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Segurança: O Room emite uma exceção se tentarmos aceder sincronamente na UI Thread.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2C111B88-5EA6-AAC0-AC14-4BECC15FF583}"/>
              </a:ext>
            </a:extLst>
          </p:cNvPr>
          <p:cNvSpPr/>
          <p:nvPr/>
        </p:nvSpPr>
        <p:spPr>
          <a:xfrm>
            <a:off x="5884497" y="1457406"/>
            <a:ext cx="563411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>
              <a:defRPr sz="1100">
                <a:solidFill>
                  <a:srgbClr val="22C55E"/>
                </a:solidFill>
                <a:latin typeface="Consolas"/>
              </a:defRPr>
            </a:pPr>
            <a:r>
              <a:rPr>
                <a:solidFill>
                  <a:schemeClr val="bg1"/>
                </a:solidFill>
              </a:rPr>
              <a:t>// A Nossa </a:t>
            </a:r>
            <a:r>
              <a:rPr lang="en-US" err="1">
                <a:solidFill>
                  <a:schemeClr val="bg1"/>
                </a:solidFill>
              </a:rPr>
              <a:t>Solução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na</a:t>
            </a:r>
            <a:r>
              <a:rPr>
                <a:solidFill>
                  <a:schemeClr val="bg1"/>
                </a:solidFill>
              </a:rPr>
              <a:t> MainActivity.java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private void </a:t>
            </a:r>
            <a:r>
              <a:rPr lang="en-US" err="1">
                <a:solidFill>
                  <a:schemeClr val="bg1"/>
                </a:solidFill>
              </a:rPr>
              <a:t>insertTask</a:t>
            </a:r>
            <a:r>
              <a:rPr>
                <a:solidFill>
                  <a:schemeClr val="bg1"/>
                </a:solidFill>
              </a:rPr>
              <a:t>() {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// 1. </a:t>
            </a:r>
            <a:r>
              <a:rPr lang="en-US" err="1">
                <a:solidFill>
                  <a:schemeClr val="bg1"/>
                </a:solidFill>
              </a:rPr>
              <a:t>Executar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em</a:t>
            </a:r>
            <a:r>
              <a:rPr>
                <a:solidFill>
                  <a:schemeClr val="bg1"/>
                </a:solidFill>
              </a:rPr>
              <a:t> Background Thread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</a:t>
            </a:r>
            <a:r>
              <a:rPr lang="en-US" err="1">
                <a:solidFill>
                  <a:schemeClr val="bg1"/>
                </a:solidFill>
              </a:rPr>
              <a:t>AppDatabase.databaseWriteExecutor.execute</a:t>
            </a:r>
            <a:r>
              <a:rPr>
                <a:solidFill>
                  <a:schemeClr val="bg1"/>
                </a:solidFill>
              </a:rPr>
              <a:t>(() -&gt; {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</a:t>
            </a:r>
            <a:r>
              <a:rPr lang="en-US" err="1">
                <a:solidFill>
                  <a:schemeClr val="bg1"/>
                </a:solidFill>
              </a:rPr>
              <a:t>TaskEntity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newTask</a:t>
            </a:r>
            <a:r>
              <a:rPr>
                <a:solidFill>
                  <a:schemeClr val="bg1"/>
                </a:solidFill>
              </a:rPr>
              <a:t> = new </a:t>
            </a:r>
            <a:r>
              <a:rPr lang="en-US" err="1">
                <a:solidFill>
                  <a:schemeClr val="bg1"/>
                </a:solidFill>
              </a:rPr>
              <a:t>TaskEntity</a:t>
            </a:r>
            <a:r>
              <a:rPr>
                <a:solidFill>
                  <a:schemeClr val="bg1"/>
                </a:solidFill>
              </a:rPr>
              <a:t>(title, false);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</a:t>
            </a:r>
            <a:r>
              <a:rPr lang="en-US" err="1">
                <a:solidFill>
                  <a:schemeClr val="bg1"/>
                </a:solidFill>
              </a:rPr>
              <a:t>db.taskDao</a:t>
            </a:r>
            <a:r>
              <a:rPr>
                <a:solidFill>
                  <a:schemeClr val="bg1"/>
                </a:solidFill>
              </a:rPr>
              <a:t>().insert(</a:t>
            </a:r>
            <a:r>
              <a:rPr lang="en-US" err="1">
                <a:solidFill>
                  <a:schemeClr val="bg1"/>
                </a:solidFill>
              </a:rPr>
              <a:t>newTask</a:t>
            </a:r>
            <a:r>
              <a:rPr>
                <a:solidFill>
                  <a:schemeClr val="bg1"/>
                </a:solidFill>
              </a:rPr>
              <a:t>);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// 2. </a:t>
            </a:r>
            <a:r>
              <a:rPr lang="en-US" err="1">
                <a:solidFill>
                  <a:schemeClr val="bg1"/>
                </a:solidFill>
              </a:rPr>
              <a:t>Voltar</a:t>
            </a:r>
            <a:r>
              <a:rPr>
                <a:solidFill>
                  <a:schemeClr val="bg1"/>
                </a:solidFill>
              </a:rPr>
              <a:t> à UI Thread para </a:t>
            </a:r>
            <a:r>
              <a:rPr lang="en-US" err="1">
                <a:solidFill>
                  <a:schemeClr val="bg1"/>
                </a:solidFill>
              </a:rPr>
              <a:t>atualizar</a:t>
            </a:r>
            <a:r>
              <a:rPr>
                <a:solidFill>
                  <a:schemeClr val="bg1"/>
                </a:solidFill>
              </a:rPr>
              <a:t> o </a:t>
            </a:r>
            <a:r>
              <a:rPr lang="en-US" err="1">
                <a:solidFill>
                  <a:schemeClr val="bg1"/>
                </a:solidFill>
              </a:rPr>
              <a:t>ecrã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</a:t>
            </a:r>
            <a:r>
              <a:rPr lang="en-US" err="1">
                <a:solidFill>
                  <a:schemeClr val="bg1"/>
                </a:solidFill>
              </a:rPr>
              <a:t>runOnUiThread</a:t>
            </a:r>
            <a:r>
              <a:rPr>
                <a:solidFill>
                  <a:schemeClr val="bg1"/>
                </a:solidFill>
              </a:rPr>
              <a:t>(() -&gt; {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    </a:t>
            </a:r>
            <a:r>
              <a:rPr lang="en-US" err="1">
                <a:solidFill>
                  <a:schemeClr val="bg1"/>
                </a:solidFill>
              </a:rPr>
              <a:t>etTaskTitle.setText</a:t>
            </a:r>
            <a:r>
              <a:rPr>
                <a:solidFill>
                  <a:schemeClr val="bg1"/>
                </a:solidFill>
              </a:rPr>
              <a:t>("");</a:t>
            </a:r>
            <a:r>
              <a:rPr lang="pt-PT">
                <a:solidFill>
                  <a:schemeClr val="bg1"/>
                </a:solidFill>
              </a:rPr>
              <a:t> // limpa o campo de texto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    </a:t>
            </a:r>
            <a:r>
              <a:rPr lang="en-US" err="1">
                <a:solidFill>
                  <a:schemeClr val="bg1"/>
                </a:solidFill>
              </a:rPr>
              <a:t>loadTasks</a:t>
            </a:r>
            <a:r>
              <a:rPr>
                <a:solidFill>
                  <a:schemeClr val="bg1"/>
                </a:solidFill>
              </a:rPr>
              <a:t>(); // </a:t>
            </a:r>
            <a:r>
              <a:rPr lang="en-US" err="1">
                <a:solidFill>
                  <a:schemeClr val="bg1"/>
                </a:solidFill>
              </a:rPr>
              <a:t>atualiza</a:t>
            </a:r>
            <a:r>
              <a:rPr lang="pt-PT">
                <a:solidFill>
                  <a:schemeClr val="bg1"/>
                </a:solidFill>
              </a:rPr>
              <a:t> a </a:t>
            </a:r>
            <a:r>
              <a:rPr lang="en-US" err="1">
                <a:solidFill>
                  <a:schemeClr val="bg1"/>
                </a:solidFill>
              </a:rPr>
              <a:t>lista</a:t>
            </a:r>
            <a:r>
              <a:rPr lang="pt-PT">
                <a:solidFill>
                  <a:schemeClr val="bg1"/>
                </a:solidFill>
              </a:rPr>
              <a:t> imediatamente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    });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});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}</a:t>
            </a:r>
            <a:endParaRPr 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Demonstração Prática na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>
                <a:solidFill>
                  <a:srgbClr val="FFC000"/>
                </a:solidFill>
              </a:rPr>
              <a:t>1. </a:t>
            </a:r>
            <a:r>
              <a:rPr err="1">
                <a:solidFill>
                  <a:srgbClr val="FFC000"/>
                </a:solidFill>
              </a:rPr>
              <a:t>Criar</a:t>
            </a:r>
            <a:r>
              <a:rPr>
                <a:solidFill>
                  <a:srgbClr val="FFC000"/>
                </a:solidFill>
              </a:rPr>
              <a:t> </a:t>
            </a:r>
            <a:r>
              <a:rPr err="1">
                <a:solidFill>
                  <a:srgbClr val="FFC000"/>
                </a:solidFill>
              </a:rPr>
              <a:t>Tarefa</a:t>
            </a:r>
            <a:endParaRPr lang="pt-PT" err="1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rPr err="1"/>
              <a:t>Digitar</a:t>
            </a:r>
            <a:r>
              <a:t> o </a:t>
            </a:r>
            <a:r>
              <a:rPr err="1"/>
              <a:t>nome</a:t>
            </a:r>
            <a:r>
              <a:t> </a:t>
            </a:r>
            <a:r>
              <a:rPr err="1"/>
              <a:t>na</a:t>
            </a:r>
            <a:r>
              <a:t> </a:t>
            </a:r>
            <a:r>
              <a:rPr err="1"/>
              <a:t>caixa</a:t>
            </a:r>
            <a:r>
              <a:t> de </a:t>
            </a:r>
            <a:r>
              <a:rPr err="1"/>
              <a:t>texto</a:t>
            </a:r>
            <a:r>
              <a:t> e </a:t>
            </a:r>
            <a:r>
              <a:rPr err="1"/>
              <a:t>clicar</a:t>
            </a:r>
            <a:r>
              <a:t> </a:t>
            </a:r>
            <a:r>
              <a:rPr err="1"/>
              <a:t>em</a:t>
            </a:r>
            <a:r>
              <a:t> '</a:t>
            </a:r>
            <a:r>
              <a:rPr err="1"/>
              <a:t>Adicionar</a:t>
            </a:r>
            <a:r>
              <a:t>'.</a:t>
            </a:r>
            <a:endParaRPr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2. Atualizar Estado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Clicar na CheckBox para alternar o estado de concluído.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91440" bIns="457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>
                <a:solidFill>
                  <a:srgbClr val="FFC000"/>
                </a:solidFill>
              </a:rPr>
              <a:t>3. Testar Offline</a:t>
            </a:r>
            <a:endParaRPr lang="pt-PT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rPr err="1"/>
              <a:t>Desligar</a:t>
            </a:r>
            <a:r>
              <a:t> </a:t>
            </a:r>
            <a:r>
              <a:rPr err="1"/>
              <a:t>a</a:t>
            </a:r>
            <a:r>
              <a:t> Internet, </a:t>
            </a:r>
            <a:r>
              <a:rPr err="1"/>
              <a:t>fechar</a:t>
            </a:r>
            <a:r>
              <a:t> </a:t>
            </a:r>
            <a:r>
              <a:rPr err="1"/>
              <a:t>a</a:t>
            </a:r>
            <a:r>
              <a:t> app e </a:t>
            </a:r>
            <a:r>
              <a:rPr err="1"/>
              <a:t>reabrir</a:t>
            </a:r>
            <a:r>
              <a:t>: as </a:t>
            </a:r>
            <a:r>
              <a:rPr err="1"/>
              <a:t>tarefas</a:t>
            </a:r>
            <a:r>
              <a:t> </a:t>
            </a:r>
            <a:r>
              <a:rPr err="1"/>
              <a:t>mantêm</a:t>
            </a:r>
            <a:r>
              <a:t>-se </a:t>
            </a:r>
            <a:r>
              <a:rPr err="1"/>
              <a:t>salvas</a:t>
            </a:r>
            <a:r>
              <a:t>!</a:t>
            </a:r>
            <a:endParaRPr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4. Eliminar Registos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Apagar tarefas individuais pelo ícone de lixo ou limpar tudo no 'Apagar Tudo'.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Vantagens, Limitações e Erros Frequentes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91440" bIns="457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>
                <a:solidFill>
                  <a:srgbClr val="FFC000"/>
                </a:solidFill>
              </a:rPr>
              <a:t>Vantagens &amp; Limitações</a:t>
            </a:r>
            <a:endParaRPr lang="pt-PT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Vantagem: Código limpo e seguro contra erros de SQL.</a:t>
            </a:r>
            <a:endParaRPr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Vantagem: </a:t>
            </a:r>
            <a:r>
              <a:rPr lang="pt-PT"/>
              <a:t>Melhor</a:t>
            </a:r>
            <a:r>
              <a:rPr dirty="0"/>
              <a:t> desempenho e suporte offline.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Limitação: Requer</a:t>
            </a:r>
            <a:r>
              <a:rPr dirty="0"/>
              <a:t> </a:t>
            </a:r>
            <a:r>
              <a:t>configuração</a:t>
            </a:r>
            <a:r>
              <a:rPr dirty="0"/>
              <a:t> </a:t>
            </a:r>
            <a:r>
              <a:t>inicial de Entidades, DAOs e Database.</a:t>
            </a:r>
            <a:endParaRPr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Erros Frequentes em Desenvolvimento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Tentar aceder à base de dados na UI Thread.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Esquecer de instanciar a Database como Singleton.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Esquecer de atualizar a interface na Main Thread usando runOnUiThread().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515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Questões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2563" y="1402964"/>
            <a:ext cx="10698480" cy="2279815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91440" bIns="457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err="1">
                <a:solidFill>
                  <a:srgbClr val="FFC000"/>
                </a:solidFill>
              </a:rPr>
              <a:t>Questão</a:t>
            </a:r>
            <a:r>
              <a:rPr>
                <a:solidFill>
                  <a:srgbClr val="FFC000"/>
                </a:solidFill>
              </a:rPr>
              <a:t> 1</a:t>
            </a:r>
            <a:endParaRPr lang="pt-PT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spcBef>
                <a:spcPts val="1000"/>
              </a:spcBef>
              <a:defRPr sz="1500">
                <a:solidFill>
                  <a:srgbClr val="F8FAFC"/>
                </a:solidFill>
              </a:defRPr>
            </a:pPr>
            <a:r>
              <a:t>Por </a:t>
            </a:r>
            <a:r>
              <a:rPr err="1"/>
              <a:t>que</a:t>
            </a:r>
            <a:r>
              <a:t> </a:t>
            </a:r>
            <a:r>
              <a:rPr err="1"/>
              <a:t>motivo</a:t>
            </a:r>
            <a:r>
              <a:t> o Android </a:t>
            </a:r>
            <a:r>
              <a:rPr err="1"/>
              <a:t>proíbe</a:t>
            </a:r>
            <a:r>
              <a:t> o </a:t>
            </a:r>
            <a:r>
              <a:rPr err="1"/>
              <a:t>acesso</a:t>
            </a:r>
            <a:r>
              <a:t> à base de dados Room </a:t>
            </a:r>
            <a:r>
              <a:rPr err="1"/>
              <a:t>na</a:t>
            </a:r>
            <a:r>
              <a:t> Thread Principal (UI Thread)?</a:t>
            </a:r>
            <a:endParaRPr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949148"/>
            <a:ext cx="10698480" cy="232398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Questão 2</a:t>
            </a:r>
          </a:p>
          <a:p>
            <a:pPr>
              <a:spcBef>
                <a:spcPts val="1000"/>
              </a:spcBef>
              <a:defRPr sz="1500">
                <a:solidFill>
                  <a:srgbClr val="F8FAFC"/>
                </a:solidFill>
              </a:defRPr>
            </a:pPr>
            <a:r>
              <a:t>Quais são as principais vantagens de utilizar a biblioteca Room em relação ao uso de queries SQLite manuais em Java?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51</cp:revision>
  <dcterms:created xsi:type="dcterms:W3CDTF">2013-01-27T09:14:16Z</dcterms:created>
  <dcterms:modified xsi:type="dcterms:W3CDTF">2026-10-26T18:21:18Z</dcterms:modified>
  <cp:category/>
</cp:coreProperties>
</file>